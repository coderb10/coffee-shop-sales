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5" r:id="rId6"/>
    <p:sldId id="263" r:id="rId7"/>
    <p:sldId id="267" r:id="rId8"/>
    <p:sldId id="264" r:id="rId9"/>
    <p:sldId id="266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gu\Downloads\Excel%20project\Book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oggu\Downloads\Excel%20project\Book2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gu\Downloads\Excel%20project\Book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oggu\Downloads\Excel%20project\Book2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gu\Downloads\Excel%20project\Book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oggu\Downloads\Excel%20project\Book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[Book2.xlsx]Sheet2!PivotTable1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634832"/>
            </a:solidFill>
            <a:round/>
          </a:ln>
          <a:effectLst/>
        </c:spPr>
        <c:marker>
          <c:symbol val="circle"/>
          <c:size val="5"/>
          <c:spPr>
            <a:solidFill>
              <a:srgbClr val="634832"/>
            </a:solidFill>
            <a:ln w="9525">
              <a:solidFill>
                <a:srgbClr val="63483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634832"/>
            </a:solidFill>
            <a:round/>
          </a:ln>
          <a:effectLst/>
        </c:spPr>
        <c:marker>
          <c:symbol val="circle"/>
          <c:size val="5"/>
          <c:spPr>
            <a:solidFill>
              <a:srgbClr val="634832"/>
            </a:solidFill>
            <a:ln w="9525">
              <a:solidFill>
                <a:srgbClr val="63483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rgbClr val="634832"/>
            </a:solidFill>
            <a:round/>
          </a:ln>
          <a:effectLst/>
        </c:spPr>
        <c:marker>
          <c:symbol val="circle"/>
          <c:size val="5"/>
          <c:spPr>
            <a:solidFill>
              <a:srgbClr val="634832"/>
            </a:solidFill>
            <a:ln w="9525">
              <a:solidFill>
                <a:srgbClr val="63483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63483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634832"/>
              </a:solidFill>
              <a:ln w="9525">
                <a:solidFill>
                  <a:srgbClr val="634832"/>
                </a:solidFill>
              </a:ln>
              <a:effectLst/>
            </c:spPr>
          </c:marker>
          <c:cat>
            <c:strRef>
              <c:f>Sheet2!$A$2:$A$17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Sheet2!$B$2:$B$17</c:f>
              <c:numCache>
                <c:formatCode>General</c:formatCode>
                <c:ptCount val="15"/>
                <c:pt idx="0">
                  <c:v>6865</c:v>
                </c:pt>
                <c:pt idx="1">
                  <c:v>19449</c:v>
                </c:pt>
                <c:pt idx="2">
                  <c:v>25197</c:v>
                </c:pt>
                <c:pt idx="3">
                  <c:v>25370</c:v>
                </c:pt>
                <c:pt idx="4">
                  <c:v>26713</c:v>
                </c:pt>
                <c:pt idx="5">
                  <c:v>14035</c:v>
                </c:pt>
                <c:pt idx="6">
                  <c:v>12690</c:v>
                </c:pt>
                <c:pt idx="7">
                  <c:v>12439</c:v>
                </c:pt>
                <c:pt idx="8">
                  <c:v>12907</c:v>
                </c:pt>
                <c:pt idx="9">
                  <c:v>12923</c:v>
                </c:pt>
                <c:pt idx="10">
                  <c:v>12881</c:v>
                </c:pt>
                <c:pt idx="11">
                  <c:v>12700</c:v>
                </c:pt>
                <c:pt idx="12">
                  <c:v>10826</c:v>
                </c:pt>
                <c:pt idx="13">
                  <c:v>8595</c:v>
                </c:pt>
                <c:pt idx="14">
                  <c:v>880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C9-445D-A203-936E52B5E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94925279"/>
        <c:axId val="1494927199"/>
      </c:lineChart>
      <c:catAx>
        <c:axId val="14949252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Hours</a:t>
                </a:r>
              </a:p>
            </c:rich>
          </c:tx>
          <c:layout>
            <c:manualLayout>
              <c:xMode val="edge"/>
              <c:yMode val="edge"/>
              <c:x val="0.46861699804595869"/>
              <c:y val="0.94100997632491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38220F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27199"/>
        <c:crosses val="autoZero"/>
        <c:auto val="1"/>
        <c:lblAlgn val="ctr"/>
        <c:lblOffset val="100"/>
        <c:noMultiLvlLbl val="0"/>
      </c:catAx>
      <c:valAx>
        <c:axId val="14949271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Quantity</a:t>
                </a:r>
              </a:p>
            </c:rich>
          </c:tx>
          <c:layout>
            <c:manualLayout>
              <c:xMode val="edge"/>
              <c:yMode val="edge"/>
              <c:x val="1.4907573047107931E-2"/>
              <c:y val="0.390277747315011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25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[Book2.xlsx]Sheet2!PivotTable2</c:name>
    <c:fmtId val="2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38220F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38220F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38220F"/>
          </a:solidFill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Sheet2!$E$1</c:f>
              <c:strCache>
                <c:ptCount val="1"/>
                <c:pt idx="0">
                  <c:v>Footfall</c:v>
                </c:pt>
              </c:strCache>
            </c:strRef>
          </c:tx>
          <c:spPr>
            <a:solidFill>
              <a:srgbClr val="634832"/>
            </a:solidFill>
            <a:ln>
              <a:solidFill>
                <a:srgbClr val="634832"/>
              </a:solidFill>
            </a:ln>
            <a:effectLst/>
          </c:spPr>
          <c:invertIfNegative val="0"/>
          <c:cat>
            <c:strRef>
              <c:f>Sheet2!$D$2:$D$9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Sheet2!$E$2:$E$9</c:f>
              <c:numCache>
                <c:formatCode>General</c:formatCode>
                <c:ptCount val="7"/>
                <c:pt idx="0">
                  <c:v>21096</c:v>
                </c:pt>
                <c:pt idx="1">
                  <c:v>21643</c:v>
                </c:pt>
                <c:pt idx="2">
                  <c:v>21202</c:v>
                </c:pt>
                <c:pt idx="3">
                  <c:v>21310</c:v>
                </c:pt>
                <c:pt idx="4">
                  <c:v>21654</c:v>
                </c:pt>
                <c:pt idx="5">
                  <c:v>21701</c:v>
                </c:pt>
                <c:pt idx="6">
                  <c:v>20510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D0-4AB8-B1F1-9C5E0B97FAAB}"/>
            </c:ext>
          </c:extLst>
        </c:ser>
        <c:ser>
          <c:idx val="1"/>
          <c:order val="1"/>
          <c:tx>
            <c:strRef>
              <c:f>Sheet2!$F$1</c:f>
              <c:strCache>
                <c:ptCount val="1"/>
                <c:pt idx="0">
                  <c:v>Total bill</c:v>
                </c:pt>
              </c:strCache>
            </c:strRef>
          </c:tx>
          <c:spPr>
            <a:solidFill>
              <a:srgbClr val="38220F"/>
            </a:solidFill>
          </c:spPr>
          <c:invertIfNegative val="0"/>
          <c:cat>
            <c:strRef>
              <c:f>Sheet2!$D$2:$D$9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Sheet2!$F$2:$F$9</c:f>
              <c:numCache>
                <c:formatCode>General</c:formatCode>
                <c:ptCount val="7"/>
                <c:pt idx="0">
                  <c:v>98330.310000000041</c:v>
                </c:pt>
                <c:pt idx="1">
                  <c:v>101677.28</c:v>
                </c:pt>
                <c:pt idx="2">
                  <c:v>99455.940000000075</c:v>
                </c:pt>
                <c:pt idx="3">
                  <c:v>100313.54000000002</c:v>
                </c:pt>
                <c:pt idx="4">
                  <c:v>100767.78000000006</c:v>
                </c:pt>
                <c:pt idx="5">
                  <c:v>101373.00000000001</c:v>
                </c:pt>
                <c:pt idx="6">
                  <c:v>96894.48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D0-4AB8-B1F1-9C5E0B97F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87099375"/>
        <c:axId val="487099855"/>
      </c:barChart>
      <c:catAx>
        <c:axId val="487099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8220F"/>
            </a:solidFill>
            <a:round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487099855"/>
        <c:crosses val="autoZero"/>
        <c:auto val="1"/>
        <c:lblAlgn val="ctr"/>
        <c:lblOffset val="100"/>
        <c:noMultiLvlLbl val="0"/>
      </c:catAx>
      <c:valAx>
        <c:axId val="487099855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60000"/>
                  <a:lumOff val="40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r>
                  <a:rPr lang="en-IN">
                    <a:solidFill>
                      <a:schemeClr val="bg1"/>
                    </a:solidFill>
                  </a:rPr>
                  <a:t>Sales</a:t>
                </a:r>
              </a:p>
            </c:rich>
          </c:tx>
          <c:layout>
            <c:manualLayout>
              <c:xMode val="edge"/>
              <c:yMode val="edge"/>
              <c:x val="2.0833333333333332E-2"/>
              <c:y val="0.367295494313210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634832"/>
            </a:solidFill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487099375"/>
        <c:crosses val="autoZero"/>
        <c:crossBetween val="between"/>
      </c:valAx>
      <c:spPr>
        <a:noFill/>
        <a:ln>
          <a:solidFill>
            <a:srgbClr val="DBC1AC"/>
          </a:solidFill>
        </a:ln>
      </c:spPr>
    </c:plotArea>
    <c:legend>
      <c:legendPos val="t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gap"/>
    <c:showDLblsOverMax val="0"/>
    <c:extLst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>
          <a:ln>
            <a:noFill/>
          </a:ln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[Book2.xlsx]Sheet2!PivotTable10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noFill/>
                </a:ln>
                <a:solidFill>
                  <a:srgbClr val="634832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rgbClr val="634832"/>
                </a:solidFill>
              </a:rPr>
              <a:t>Footfall based on location</a:t>
            </a:r>
          </a:p>
        </c:rich>
      </c:tx>
      <c:layout>
        <c:manualLayout>
          <c:xMode val="edge"/>
          <c:yMode val="edge"/>
          <c:x val="0.36343477348195508"/>
          <c:y val="2.06986802705999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noFill/>
              </a:ln>
              <a:solidFill>
                <a:srgbClr val="63483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967259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38220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38220F"/>
          </a:solidFill>
          <a:ln>
            <a:noFill/>
          </a:ln>
          <a:effectLst/>
        </c:spPr>
      </c:pivotFmt>
      <c:pivotFmt>
        <c:idx val="5"/>
        <c:spPr>
          <a:solidFill>
            <a:srgbClr val="967259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38220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67259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38220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Sheet2!$K$17</c:f>
              <c:strCache>
                <c:ptCount val="1"/>
                <c:pt idx="0">
                  <c:v>Footfall</c:v>
                </c:pt>
              </c:strCache>
            </c:strRef>
          </c:tx>
          <c:spPr>
            <a:solidFill>
              <a:srgbClr val="967259"/>
            </a:solidFill>
            <a:ln>
              <a:solidFill>
                <a:srgbClr val="63483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rgbClr val="38220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Sheet2!$J$18:$J$21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Sheet2!$K$18:$K$21</c:f>
              <c:numCache>
                <c:formatCode>General</c:formatCode>
                <c:ptCount val="3"/>
                <c:pt idx="0">
                  <c:v>50599</c:v>
                </c:pt>
                <c:pt idx="1">
                  <c:v>50735</c:v>
                </c:pt>
                <c:pt idx="2">
                  <c:v>47782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8D-49DD-8E6B-60659EC22649}"/>
            </c:ext>
          </c:extLst>
        </c:ser>
        <c:ser>
          <c:idx val="1"/>
          <c:order val="1"/>
          <c:tx>
            <c:strRef>
              <c:f>Sheet2!$L$17</c:f>
              <c:strCache>
                <c:ptCount val="1"/>
                <c:pt idx="0">
                  <c:v>Total_bill</c:v>
                </c:pt>
              </c:strCache>
            </c:strRef>
          </c:tx>
          <c:spPr>
            <a:solidFill>
              <a:srgbClr val="38220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ln>
                      <a:noFill/>
                    </a:ln>
                    <a:solidFill>
                      <a:srgbClr val="38220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Sheet2!$J$18:$J$21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Sheet2!$L$18:$L$21</c:f>
              <c:numCache>
                <c:formatCode>\$#,##0.00;\(\$#,##0.00\);\$#,##0.00</c:formatCode>
                <c:ptCount val="3"/>
                <c:pt idx="0">
                  <c:v>232243.91</c:v>
                </c:pt>
                <c:pt idx="1">
                  <c:v>236511.17</c:v>
                </c:pt>
                <c:pt idx="2">
                  <c:v>230057.2500000002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8D-49DD-8E6B-60659EC226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7099375"/>
        <c:axId val="487099855"/>
      </c:barChart>
      <c:catAx>
        <c:axId val="4870993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38220F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Store location</a:t>
                </a:r>
              </a:p>
            </c:rich>
          </c:tx>
          <c:layout>
            <c:manualLayout>
              <c:xMode val="edge"/>
              <c:yMode val="edge"/>
              <c:x val="0.49339489666967684"/>
              <c:y val="0.946188407404371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8220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38220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099855"/>
        <c:crosses val="autoZero"/>
        <c:auto val="1"/>
        <c:lblAlgn val="ctr"/>
        <c:lblOffset val="100"/>
        <c:noMultiLvlLbl val="0"/>
      </c:catAx>
      <c:valAx>
        <c:axId val="4870998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38220F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Customers</a:t>
                </a:r>
              </a:p>
            </c:rich>
          </c:tx>
          <c:layout>
            <c:manualLayout>
              <c:xMode val="edge"/>
              <c:yMode val="edge"/>
              <c:x val="1.8596851838024488E-2"/>
              <c:y val="0.4089365498020646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ln>
                    <a:noFill/>
                  </a:ln>
                  <a:solidFill>
                    <a:srgbClr val="38220F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rgbClr val="38220F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38220F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7099375"/>
        <c:crosses val="autoZero"/>
        <c:crossBetween val="between"/>
      </c:valAx>
      <c:spPr>
        <a:noFill/>
        <a:ln>
          <a:solidFill>
            <a:srgbClr val="DBC1AC"/>
          </a:solidFill>
        </a:ln>
        <a:effectLst>
          <a:outerShdw blurRad="50800" dist="50800" dir="5400000" algn="ctr" rotWithShape="0">
            <a:srgbClr val="DBC1AC"/>
          </a:outerShdw>
        </a:effectLst>
      </c:spPr>
    </c:plotArea>
    <c:legend>
      <c:legendPos val="t"/>
      <c:layout>
        <c:manualLayout>
          <c:xMode val="edge"/>
          <c:yMode val="edge"/>
          <c:x val="0.39994713381449426"/>
          <c:y val="6.1082110602678034E-2"/>
          <c:w val="0.31891262840641915"/>
          <c:h val="7.96880804012477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noFill/>
              </a:ln>
              <a:solidFill>
                <a:srgbClr val="38220F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>
          <a:ln>
            <a:noFill/>
          </a:ln>
          <a:solidFill>
            <a:srgbClr val="38220F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[Book2.xlsx]Sheet2!Top_5</c:name>
    <c:fmtId val="1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4832"/>
          </a:solidFill>
          <a:ln>
            <a:solidFill>
              <a:srgbClr val="634832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vert="horz"/>
            <a:lstStyle/>
            <a:p>
              <a:pPr>
                <a:defRPr/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Sheet2!$K$6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634832"/>
            </a:solidFill>
            <a:ln>
              <a:solidFill>
                <a:srgbClr val="634832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Sheet2!$J$7:$J$12</c:f>
              <c:strCache>
                <c:ptCount val="5"/>
                <c:pt idx="0">
                  <c:v>Barista Espresso</c:v>
                </c:pt>
                <c:pt idx="1">
                  <c:v>Brewed Black tea</c:v>
                </c:pt>
                <c:pt idx="2">
                  <c:v>Brewed Chai tea</c:v>
                </c:pt>
                <c:pt idx="3">
                  <c:v>Gourmet brewed coffee</c:v>
                </c:pt>
                <c:pt idx="4">
                  <c:v>Hot chocolate</c:v>
                </c:pt>
              </c:strCache>
            </c:strRef>
          </c:cat>
          <c:val>
            <c:numRef>
              <c:f>Sheet2!$K$7:$K$12</c:f>
              <c:numCache>
                <c:formatCode>\$#,##0.00;\(\$#,##0.00\);\$#,##0.00</c:formatCode>
                <c:ptCount val="5"/>
                <c:pt idx="0">
                  <c:v>91406.2</c:v>
                </c:pt>
                <c:pt idx="1">
                  <c:v>47932</c:v>
                </c:pt>
                <c:pt idx="2">
                  <c:v>77081.950000000012</c:v>
                </c:pt>
                <c:pt idx="3">
                  <c:v>70034.600000000006</c:v>
                </c:pt>
                <c:pt idx="4">
                  <c:v>72416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55-4ABF-8EB9-82B9253D44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7099375"/>
        <c:axId val="487099855"/>
      </c:barChart>
      <c:catAx>
        <c:axId val="487099375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r>
                  <a:rPr lang="en-IN">
                    <a:solidFill>
                      <a:schemeClr val="bg1"/>
                    </a:solidFill>
                  </a:rPr>
                  <a:t>Store location</a:t>
                </a:r>
              </a:p>
            </c:rich>
          </c:tx>
          <c:layout>
            <c:manualLayout>
              <c:xMode val="edge"/>
              <c:yMode val="edge"/>
              <c:x val="0.48588726435628637"/>
              <c:y val="0.94257147127888863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38220F"/>
            </a:solidFill>
            <a:round/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487099855"/>
        <c:crosses val="autoZero"/>
        <c:auto val="1"/>
        <c:lblAlgn val="ctr"/>
        <c:lblOffset val="100"/>
        <c:noMultiLvlLbl val="0"/>
      </c:catAx>
      <c:valAx>
        <c:axId val="487099855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r>
                  <a:rPr lang="en-IN">
                    <a:solidFill>
                      <a:schemeClr val="bg1"/>
                    </a:solidFill>
                  </a:rPr>
                  <a:t>Sales</a:t>
                </a:r>
              </a:p>
            </c:rich>
          </c:tx>
          <c:layout>
            <c:manualLayout>
              <c:xMode val="edge"/>
              <c:yMode val="edge"/>
              <c:x val="2.1659286767886098E-2"/>
              <c:y val="0.3819922754603622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\$#,##0.00;\(\$#,##0.00\);\$#,##0.00" sourceLinked="1"/>
        <c:majorTickMark val="none"/>
        <c:minorTickMark val="none"/>
        <c:tickLblPos val="nextTo"/>
        <c:spPr>
          <a:noFill/>
          <a:ln>
            <a:solidFill>
              <a:srgbClr val="38220F"/>
            </a:solidFill>
          </a:ln>
          <a:effectLst/>
        </c:spPr>
        <c:txPr>
          <a:bodyPr rot="-60000000" vert="horz"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487099375"/>
        <c:crosses val="autoZero"/>
        <c:crossBetween val="between"/>
      </c:valAx>
      <c:spPr>
        <a:noFill/>
        <a:ln>
          <a:solidFill>
            <a:srgbClr val="DBC1AC"/>
          </a:solidFill>
        </a:ln>
      </c:spPr>
    </c:plotArea>
    <c:plotVisOnly val="1"/>
    <c:dispBlanksAs val="gap"/>
    <c:showDLblsOverMax val="0"/>
    <c:extLst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>
          <a:ln>
            <a:noFill/>
          </a:ln>
        </a:defRPr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[Book2.xlsx]Sheet2!PivotTable11</c:name>
    <c:fmtId val="37"/>
  </c:pivotSource>
  <c:chart>
    <c:autoTitleDeleted val="1"/>
    <c:pivotFmts>
      <c:pivotFmt>
        <c:idx val="0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8.0166229221347324E-3"/>
              <c:y val="3.6472003499562556E-3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-1.7645013123359581E-2"/>
              <c:y val="3.3363225430154561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-2.0619860017497812E-2"/>
              <c:y val="-2.7232793817439486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9.2117235345581805E-3"/>
              <c:y val="-3.3034047827354911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layout>
            <c:manualLayout>
              <c:x val="-2.0619860017497812E-2"/>
              <c:y val="-2.7232793817439486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layout>
            <c:manualLayout>
              <c:x val="9.2117235345581805E-3"/>
              <c:y val="-3.3034047827354911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layout>
            <c:manualLayout>
              <c:x val="8.0166229221347324E-3"/>
              <c:y val="3.6472003499562556E-3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layout>
            <c:manualLayout>
              <c:x val="-1.7645013123359581E-2"/>
              <c:y val="3.3363225430154561E-2"/>
            </c:manualLayout>
          </c:layout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dLbl>
          <c:idx val="0"/>
          <c:layout>
            <c:manualLayout>
              <c:x val="4.6748773024911016E-3"/>
              <c:y val="1.14552347623212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17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18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dLbl>
          <c:idx val="0"/>
          <c:layout>
            <c:manualLayout>
              <c:x val="4.6748773024911016E-3"/>
              <c:y val="1.14552347623212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20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22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  <c:pivotFmt>
        <c:idx val="23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  <c:dLbl>
          <c:idx val="0"/>
          <c:layout>
            <c:manualLayout>
              <c:x val="4.6748773024911016E-3"/>
              <c:y val="1.145523476232129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tint val="100000"/>
                  <a:shade val="85000"/>
                  <a:satMod val="100000"/>
                  <a:lumMod val="100000"/>
                </a:schemeClr>
              </a:gs>
              <a:gs pos="100000">
                <a:schemeClr val="accent1">
                  <a:tint val="90000"/>
                  <a:shade val="100000"/>
                  <a:satMod val="150000"/>
                  <a:lumMod val="100000"/>
                </a:schemeClr>
              </a:gs>
            </a:gsLst>
            <a:path path="circle">
              <a:fillToRect l="100000" t="100000" r="100000" b="100000"/>
            </a:path>
          </a:gradFill>
          <a:ln>
            <a:noFill/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Sheet2!$J$24</c:f>
              <c:strCache>
                <c:ptCount val="1"/>
                <c:pt idx="0">
                  <c:v>Total</c:v>
                </c:pt>
              </c:strCache>
            </c:strRef>
          </c:tx>
          <c:explosion val="4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1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18-47FA-9C6B-CE70D77B940C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3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18-47FA-9C6B-CE70D77B940C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5"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5"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18-47FA-9C6B-CE70D77B940C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100000"/>
                      <a:shade val="85000"/>
                      <a:satMod val="100000"/>
                      <a:lumMod val="100000"/>
                    </a:schemeClr>
                  </a:gs>
                  <a:gs pos="100000">
                    <a:schemeClr val="accent1">
                      <a:lumMod val="60000"/>
                      <a:tint val="90000"/>
                      <a:shade val="100000"/>
                      <a:satMod val="150000"/>
                      <a:lumMod val="100000"/>
                    </a:schemeClr>
                  </a:gs>
                </a:gsLst>
                <a:path path="circle">
                  <a:fillToRect l="100000" t="100000" r="100000" b="100000"/>
                </a:path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718-47FA-9C6B-CE70D77B940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9E0D83F-3ECE-434E-BD6A-296F692E6BB9}" type="PERCENTAGE">
                      <a:rPr lang="en-US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0718-47FA-9C6B-CE70D77B940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EF15174-67F2-495B-AEC6-30B60D7B06CC}" type="PERCENTAGE">
                      <a:rPr lang="en-US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718-47FA-9C6B-CE70D77B940C}"/>
                </c:ext>
              </c:extLst>
            </c:dLbl>
            <c:dLbl>
              <c:idx val="2"/>
              <c:layout>
                <c:manualLayout>
                  <c:x val="4.6748773024911016E-3"/>
                  <c:y val="1.1455234762321291E-2"/>
                </c:manualLayout>
              </c:layout>
              <c:tx>
                <c:rich>
                  <a:bodyPr/>
                  <a:lstStyle/>
                  <a:p>
                    <a:fld id="{73AE86DA-9C54-438C-AED3-13C827675222}" type="PERCENTAGE">
                      <a:rPr lang="en-US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718-47FA-9C6B-CE70D77B940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5DB8BB0-3951-4638-AC50-4F15EF4B2A96}" type="PERCENTAGE">
                      <a:rPr lang="en-US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0718-47FA-9C6B-CE70D77B94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Sheet2!$I$25:$I$29</c:f>
              <c:strCache>
                <c:ptCount val="4"/>
                <c:pt idx="0">
                  <c:v>Large</c:v>
                </c:pt>
                <c:pt idx="1">
                  <c:v>Not defined</c:v>
                </c:pt>
                <c:pt idx="2">
                  <c:v>Regular</c:v>
                </c:pt>
                <c:pt idx="3">
                  <c:v>Small</c:v>
                </c:pt>
              </c:strCache>
            </c:strRef>
          </c:cat>
          <c:val>
            <c:numRef>
              <c:f>Sheet2!$J$25:$J$29</c:f>
              <c:numCache>
                <c:formatCode>General</c:formatCode>
                <c:ptCount val="4"/>
                <c:pt idx="0">
                  <c:v>44885</c:v>
                </c:pt>
                <c:pt idx="1">
                  <c:v>44518</c:v>
                </c:pt>
                <c:pt idx="2">
                  <c:v>45789</c:v>
                </c:pt>
                <c:pt idx="3">
                  <c:v>13924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18-47FA-9C6B-CE70D77B94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[CoffeeShop_sales .xlsx]Sheet2!PivotTable6</c:name>
    <c:fmtId val="15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AD6B1BE-CE3D-4F69-943C-B0ED643E8CE3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B2B7562-928B-4B6C-B901-2E6C7255CC4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C0DAB4C-C04C-4511-97BB-D318550EB10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F7A6DAB8-49EE-4B75-B2D1-945B7B6C7C1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0A4B4536-7CEB-4AF5-8656-1BFD9742CC8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39629BA-B03A-4A70-B840-2761521BB6C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849277C-EBFE-494A-9CEA-90DDCC6207C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-1.2814550524934396E-2"/>
              <c:y val="2.749380285797608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19166718-03F1-49FF-84EE-0A4387471508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4.9323326771653544E-3"/>
              <c:y val="2.0491396908719744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93453A5B-F988-4F8A-9B37-8E5C6E038A65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AD6B1BE-CE3D-4F69-943C-B0ED643E8CE3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B2B7562-928B-4B6C-B901-2E6C7255CC4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4.9323326771653544E-3"/>
              <c:y val="2.0491396908719744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93453A5B-F988-4F8A-9B37-8E5C6E038A65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849277C-EBFE-494A-9CEA-90DDCC6207C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39629BA-B03A-4A70-B840-2761521BB6C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0A4B4536-7CEB-4AF5-8656-1BFD9742CC8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F7A6DAB8-49EE-4B75-B2D1-945B7B6C7C1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C0DAB4C-C04C-4511-97BB-D318550EB10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-1.2814550524934396E-2"/>
              <c:y val="2.749380285797608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19166718-03F1-49FF-84EE-0A4387471508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AD6B1BE-CE3D-4F69-943C-B0ED643E8CE3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B2B7562-928B-4B6C-B901-2E6C7255CC4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4.9323326771653544E-3"/>
              <c:y val="2.0491396908719744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93453A5B-F988-4F8A-9B37-8E5C6E038A65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C849277C-EBFE-494A-9CEA-90DDCC6207C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439629BA-B03A-4A70-B840-2761521BB6C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0A4B4536-7CEB-4AF5-8656-1BFD9742CC84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F7A6DAB8-49EE-4B75-B2D1-945B7B6C7C12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2C0DAB4C-C04C-4511-97BB-D318550EB106}" type="PERCENTAGE">
                  <a:rPr lang="en-US">
                    <a:solidFill>
                      <a:srgbClr val="634832"/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dLbl>
          <c:idx val="0"/>
          <c:layout>
            <c:manualLayout>
              <c:x val="-1.2814550524934396E-2"/>
              <c:y val="2.7493802857976087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fld id="{19166718-03F1-49FF-84EE-0A4387471508}" type="PERCENTAGE">
                  <a:rPr lang="en-US">
                    <a:solidFill>
                      <a:schemeClr val="accent2">
                        <a:lumMod val="50000"/>
                      </a:schemeClr>
                    </a:solidFill>
                  </a:rPr>
                  <a:pPr>
                    <a:defRPr sz="9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IN"/>
              </a:p>
            </c:rich>
          </c:tx>
          <c:numFmt formatCode="0.00%" sourceLinked="0"/>
          <c:spPr>
            <a:solidFill>
              <a:srgbClr val="DBC1AC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Sheet2!$H$2</c:f>
              <c:strCache>
                <c:ptCount val="1"/>
                <c:pt idx="0">
                  <c:v>Total</c:v>
                </c:pt>
              </c:strCache>
            </c:strRef>
          </c:tx>
          <c:explosion val="13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135-402F-A8D9-79B18DABDDB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135-402F-A8D9-79B18DABDDB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135-402F-A8D9-79B18DABDDB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135-402F-A8D9-79B18DABDDB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135-402F-A8D9-79B18DABDDB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135-402F-A8D9-79B18DABDDB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D135-402F-A8D9-79B18DABDDB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D135-402F-A8D9-79B18DABDDB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D135-402F-A8D9-79B18DABDDB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AD6B1BE-CE3D-4F69-943C-B0ED643E8CE3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135-402F-A8D9-79B18DABDDB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B2B7562-928B-4B6C-B901-2E6C7255CC44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135-402F-A8D9-79B18DABDDBF}"/>
                </c:ext>
              </c:extLst>
            </c:dLbl>
            <c:dLbl>
              <c:idx val="2"/>
              <c:layout>
                <c:manualLayout>
                  <c:x val="-3.9797918037336698E-2"/>
                  <c:y val="3.5188219353781025E-2"/>
                </c:manualLayout>
              </c:layout>
              <c:tx>
                <c:rich>
                  <a:bodyPr/>
                  <a:lstStyle/>
                  <a:p>
                    <a:fld id="{93453A5B-F988-4F8A-9B37-8E5C6E038A65}" type="PERCENTAGE">
                      <a:rPr lang="en-US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135-402F-A8D9-79B18DABDDB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C849277C-EBFE-494A-9CEA-90DDCC6207C6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D135-402F-A8D9-79B18DABDDB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39629BA-B03A-4A70-B840-2761521BB6C2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D135-402F-A8D9-79B18DABDDB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A4B4536-7CEB-4AF5-8656-1BFD9742CC84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D135-402F-A8D9-79B18DABDDB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F7A6DAB8-49EE-4B75-B2D1-945B7B6C7C12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D135-402F-A8D9-79B18DABDDB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2C0DAB4C-C04C-4511-97BB-D318550EB106}" type="PERCENTAGE">
                      <a:rPr lang="en-US">
                        <a:solidFill>
                          <a:srgbClr val="634832"/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F-D135-402F-A8D9-79B18DABDDBF}"/>
                </c:ext>
              </c:extLst>
            </c:dLbl>
            <c:dLbl>
              <c:idx val="8"/>
              <c:layout>
                <c:manualLayout>
                  <c:x val="-1.2814550524934396E-2"/>
                  <c:y val="2.7493802857976087E-2"/>
                </c:manualLayout>
              </c:layout>
              <c:tx>
                <c:rich>
                  <a:bodyPr/>
                  <a:lstStyle/>
                  <a:p>
                    <a:fld id="{19166718-03F1-49FF-84EE-0A4387471508}" type="PERCENTAGE">
                      <a:rPr lang="en-US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pPr/>
                      <a:t>[PERCENTAGE]</a:t>
                    </a:fld>
                    <a:endParaRPr lang="en-IN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D135-402F-A8D9-79B18DABDDBF}"/>
                </c:ext>
              </c:extLst>
            </c:dLbl>
            <c:numFmt formatCode="0.00%" sourceLinked="0"/>
            <c:spPr>
              <a:solidFill>
                <a:srgbClr val="DBC1A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Sheet2!$G$3:$G$12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Sheet2!$H$3:$H$12</c:f>
              <c:numCache>
                <c:formatCode>\$#,##0.00;\(\$#,##0.00\);\$#,##0.00</c:formatCode>
                <c:ptCount val="9"/>
                <c:pt idx="0">
                  <c:v>82315.639999999912</c:v>
                </c:pt>
                <c:pt idx="1">
                  <c:v>13607</c:v>
                </c:pt>
                <c:pt idx="2">
                  <c:v>269952.45</c:v>
                </c:pt>
                <c:pt idx="3">
                  <c:v>40085.25</c:v>
                </c:pt>
                <c:pt idx="4">
                  <c:v>72416</c:v>
                </c:pt>
                <c:pt idx="5">
                  <c:v>8408.800000000012</c:v>
                </c:pt>
                <c:pt idx="6">
                  <c:v>11213.6</c:v>
                </c:pt>
                <c:pt idx="7">
                  <c:v>4407.6399999999994</c:v>
                </c:pt>
                <c:pt idx="8">
                  <c:v>196405.95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135-402F-A8D9-79B18DABDDBF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610314775793871"/>
          <c:y val="0.22012467191601051"/>
          <c:w val="0.26629121843924436"/>
          <c:h val="0.703129921259842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DBC1AC"/>
    </a:solidFill>
    <a:ln w="9525" cap="flat" cmpd="sng" algn="ctr">
      <a:solidFill>
        <a:srgbClr val="38220F"/>
      </a:solidFill>
      <a:round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290E50-D3EA-4329-AA5F-AF5A5C575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112D18-5CEB-46F3-924F-E35464AAA3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5D1AD-E24C-4E82-BC85-28527A42DCE7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FC0ED-2712-4B69-9F16-123F02DBF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BD00C-2269-4424-828A-8D893B5226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B3793-D85E-4082-925C-FAA1A2B272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63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EA34-3951-4B6D-8DDD-B157CE00471C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3E965-974B-498D-B360-83DD1F9DEB5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3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3E965-974B-498D-B360-83DD1F9DEB5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52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AB3A824-1A51-4B26-AD58-A6D8E14F6C04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150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64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76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7958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63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1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6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51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80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27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5/1/2025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95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CBC1C18-307B-4F68-A007-B5B542270E8D}" type="datetimeFigureOut">
              <a:rPr lang="en-US" noProof="0" smtClean="0"/>
              <a:t>5/1/2025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28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Coffee Beans">
            <a:extLst>
              <a:ext uri="{FF2B5EF4-FFF2-40B4-BE49-F238E27FC236}">
                <a16:creationId xmlns:a16="http://schemas.microsoft.com/office/drawing/2014/main" id="{291BDB91-E757-4677-A38C-EB354240C8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4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643467"/>
            <a:ext cx="7164674" cy="5571066"/>
          </a:xfrm>
          <a:prstGeom prst="rect">
            <a:avLst/>
          </a:prstGeom>
        </p:spPr>
        <p:txBody>
          <a:bodyPr lIns="0" rIns="180000">
            <a:normAutofit/>
          </a:bodyPr>
          <a:lstStyle/>
          <a:p>
            <a:r>
              <a:rPr lang="en-US" sz="7200" b="1" dirty="0">
                <a:solidFill>
                  <a:schemeClr val="tx1"/>
                </a:solidFill>
              </a:rPr>
              <a:t>Coffee shop 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  <a:prstGeom prst="rect">
            <a:avLst/>
          </a:prstGeom>
        </p:spPr>
        <p:txBody>
          <a:bodyPr lIns="0" rIns="0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6 months sales analyses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B08A53-A81D-E7BC-7D0F-BB5A59B3AFAC}"/>
              </a:ext>
            </a:extLst>
          </p:cNvPr>
          <p:cNvSpPr txBox="1"/>
          <p:nvPr/>
        </p:nvSpPr>
        <p:spPr>
          <a:xfrm>
            <a:off x="8364584" y="4058816"/>
            <a:ext cx="30999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Yog Gupta | </a:t>
            </a:r>
            <a:r>
              <a:rPr lang="en-IN" dirty="0" err="1"/>
              <a:t>Ws</a:t>
            </a:r>
            <a:r>
              <a:rPr lang="en-IN" dirty="0"/>
              <a:t> </a:t>
            </a:r>
            <a:r>
              <a:rPr lang="en-IN"/>
              <a:t>cube tech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E3F6-38F8-2ADA-7E78-7DABBCF6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</a:t>
            </a:r>
            <a:r>
              <a:rPr lang="en-IN" sz="2400" dirty="0"/>
              <a:t>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014EBD-78D6-8F69-DCB0-301BB731DAB0}"/>
              </a:ext>
            </a:extLst>
          </p:cNvPr>
          <p:cNvSpPr/>
          <p:nvPr/>
        </p:nvSpPr>
        <p:spPr>
          <a:xfrm>
            <a:off x="1242060" y="2984574"/>
            <a:ext cx="2164080" cy="888851"/>
          </a:xfrm>
          <a:prstGeom prst="roundRect">
            <a:avLst/>
          </a:prstGeom>
          <a:solidFill>
            <a:srgbClr val="DBC1AC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t>Total sales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5CD39-C494-49E9-B2A8-50D3BD427F3D}" type="TxLink"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$6,98,812.33 </a:t>
            </a:fld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ptos Narrow" panose="0211000402020202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B4B7A8-E96A-41A2-B82B-3ACA793D92B8}"/>
              </a:ext>
            </a:extLst>
          </p:cNvPr>
          <p:cNvSpPr/>
          <p:nvPr/>
        </p:nvSpPr>
        <p:spPr>
          <a:xfrm>
            <a:off x="3649980" y="2984574"/>
            <a:ext cx="2164080" cy="888851"/>
          </a:xfrm>
          <a:prstGeom prst="roundRect">
            <a:avLst/>
          </a:prstGeom>
          <a:solidFill>
            <a:srgbClr val="DBC1AC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t>Total footfall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C0492-8C41-4AF1-B0CF-24252C5C9C40}" type="TxLink"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149116</a:t>
            </a:fld>
            <a:endParaRPr kumimoji="0" lang="en-US" sz="1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022683-34CB-4EA7-9450-3A426798A6DB}"/>
              </a:ext>
            </a:extLst>
          </p:cNvPr>
          <p:cNvSpPr/>
          <p:nvPr/>
        </p:nvSpPr>
        <p:spPr>
          <a:xfrm>
            <a:off x="6080760" y="2992194"/>
            <a:ext cx="2164080" cy="873611"/>
          </a:xfrm>
          <a:prstGeom prst="roundRect">
            <a:avLst/>
          </a:prstGeom>
          <a:solidFill>
            <a:srgbClr val="DBC1AC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t>Avg bill/ person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EED1C6-438D-41A8-A818-B5B1B696945F}" type="TxLink"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 $4.69 </a:t>
            </a:fld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D15238-10A8-4F28-9B51-50CC74E4F309}"/>
              </a:ext>
            </a:extLst>
          </p:cNvPr>
          <p:cNvSpPr/>
          <p:nvPr/>
        </p:nvSpPr>
        <p:spPr>
          <a:xfrm>
            <a:off x="8511540" y="2999814"/>
            <a:ext cx="2438400" cy="858371"/>
          </a:xfrm>
          <a:prstGeom prst="roundRect">
            <a:avLst/>
          </a:prstGeom>
          <a:solidFill>
            <a:srgbClr val="DBC1AC"/>
          </a:solidFill>
          <a:ln w="19050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t>Avg order/person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96519-A6CF-4DE7-8E2C-1CA897B1C308}" type="TxLink"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Narrow"/>
                <a:ea typeface="+mn-ea"/>
                <a:cs typeface="+mn-cs"/>
              </a:rPr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1.44</a:t>
            </a:fld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 Narr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628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4426-4C4B-2939-7DA1-AF9AF65C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Quantity</a:t>
            </a:r>
            <a:r>
              <a:rPr lang="en-US" b="1" baseline="0" dirty="0">
                <a:solidFill>
                  <a:schemeClr val="tx1"/>
                </a:solidFill>
              </a:rPr>
              <a:t> ordered based on hours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AF02C-FE23-C2BD-3F11-09BA4F6BE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Are there any peak times for sales activity?</a:t>
            </a:r>
          </a:p>
          <a:p>
            <a:pPr algn="just"/>
            <a:r>
              <a:rPr lang="en-US" dirty="0"/>
              <a:t>Sales are high during the early breakfast or office opening hours i.e. 7-10 a.m. </a:t>
            </a:r>
          </a:p>
          <a:p>
            <a:pPr algn="just"/>
            <a:r>
              <a:rPr lang="en-US" dirty="0"/>
              <a:t>The maximum sales at around 10a.m. itself with an average of 26K units in 6 months</a:t>
            </a:r>
          </a:p>
          <a:p>
            <a:pPr algn="just"/>
            <a:r>
              <a:rPr lang="en-US" dirty="0"/>
              <a:t>June month has shown the maximum sales with around 6K units at the peak hours.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3CF63CE-76B7-4317-A4B3-DA3E2CDC05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61574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0760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A1A5-02A7-5FDE-865F-63D36A2BC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Weekday footfall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D111F-9A0A-605A-24B2-9ABBBD84C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just"/>
            <a:r>
              <a:rPr lang="en-US" dirty="0"/>
              <a:t>How do sales vary by day of the week and hour of the day?</a:t>
            </a:r>
          </a:p>
          <a:p>
            <a:pPr algn="just"/>
            <a:r>
              <a:rPr lang="en-US" dirty="0"/>
              <a:t>Tuesdays and Fridays observe most order in a week. With highest sales during the early hours of a day and it observes a steep decline with midrange sales(2K units) during lunch hours and then it declines further towards the end of the day.</a:t>
            </a:r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99C45F7-F78E-4C32-8210-2530FFBC2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014202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1998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EB755-AC73-B065-6CC0-0B4AA32D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Location based Footfall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2A9F7-39F3-7D04-C35A-ABE829DC4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042901"/>
            <a:ext cx="4389120" cy="37622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Total sales in each month</a:t>
            </a:r>
          </a:p>
          <a:p>
            <a:r>
              <a:rPr lang="en-IN" dirty="0"/>
              <a:t>January : $81,716</a:t>
            </a:r>
          </a:p>
          <a:p>
            <a:r>
              <a:rPr lang="en-IN" dirty="0"/>
              <a:t>February : $76,144</a:t>
            </a:r>
          </a:p>
          <a:p>
            <a:r>
              <a:rPr lang="en-IN" dirty="0"/>
              <a:t>March : $98,833</a:t>
            </a:r>
          </a:p>
          <a:p>
            <a:r>
              <a:rPr lang="en-IN" dirty="0"/>
              <a:t>April: $118,940</a:t>
            </a:r>
          </a:p>
          <a:p>
            <a:r>
              <a:rPr lang="en-IN" dirty="0"/>
              <a:t>May: $1,56,726</a:t>
            </a:r>
          </a:p>
          <a:p>
            <a:r>
              <a:rPr lang="en-IN" dirty="0"/>
              <a:t>June: $166,485 </a:t>
            </a:r>
          </a:p>
          <a:p>
            <a:endParaRPr lang="en-IN" dirty="0"/>
          </a:p>
          <a:p>
            <a:r>
              <a:rPr lang="en-IN" dirty="0"/>
              <a:t>Across 3 locations, the sales have been quite similar with </a:t>
            </a:r>
            <a:r>
              <a:rPr lang="en-IN" b="1" dirty="0"/>
              <a:t>Hell’s Kitchen </a:t>
            </a:r>
            <a:r>
              <a:rPr lang="en-IN" dirty="0"/>
              <a:t>being at the top spot every month.</a:t>
            </a:r>
          </a:p>
          <a:p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16E2D1-0132-497A-A958-55B9EF793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796108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492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414DE-D8D1-E2AF-643B-B2701E3D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5 products based on sales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2A811-DBBA-64C9-92F6-4694EF0B6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Which products are the best-selling in terms of quantity and revenue?</a:t>
            </a:r>
          </a:p>
          <a:p>
            <a:endParaRPr lang="en-US" dirty="0"/>
          </a:p>
          <a:p>
            <a:r>
              <a:rPr lang="en-US" dirty="0"/>
              <a:t>Based on revenue, </a:t>
            </a:r>
            <a:r>
              <a:rPr lang="en-US" b="1" dirty="0"/>
              <a:t>Barista Espresso </a:t>
            </a:r>
            <a:r>
              <a:rPr lang="en-US" dirty="0"/>
              <a:t>&gt; </a:t>
            </a:r>
            <a:r>
              <a:rPr lang="en-US" b="1" dirty="0"/>
              <a:t>Brewed Chai tea</a:t>
            </a:r>
            <a:r>
              <a:rPr lang="en-US" dirty="0"/>
              <a:t> are the highest grossers.</a:t>
            </a:r>
          </a:p>
          <a:p>
            <a:r>
              <a:rPr lang="en-US" dirty="0"/>
              <a:t>Followed by Hot Chocolate &gt; Gourmet brewed coffee &gt; Brewed black tea.</a:t>
            </a:r>
          </a:p>
          <a:p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DD2457-981A-418E-8478-02F24A3F15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247513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23628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387B-8543-4146-D790-87878C8E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Size based sales distribution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B5D66-FF17-62E8-27EF-41C3664CC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In terms of quantity:</a:t>
            </a:r>
          </a:p>
          <a:p>
            <a:r>
              <a:rPr lang="en-US" dirty="0"/>
              <a:t>Regular sized coffees are most ordered while Large and Not defined sizes have equal contribution. </a:t>
            </a:r>
            <a:endParaRPr lang="en-IN" dirty="0"/>
          </a:p>
          <a:p>
            <a:r>
              <a:rPr lang="en-IN" dirty="0"/>
              <a:t>The least ordered size is the Small size coffee.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4B09BEA-A185-419A-9283-26BC6E68F6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934573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5420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6FEA-A7FD-16D3-B5FB-8741A378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838199"/>
            <a:ext cx="4389120" cy="137066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Sales based on category</a:t>
            </a:r>
            <a:br>
              <a:rPr lang="en-US" dirty="0">
                <a:solidFill>
                  <a:srgbClr val="634832"/>
                </a:solidFill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74D2D-1B84-6810-069A-FDDF67032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How do sales vary by product category and type?</a:t>
            </a:r>
          </a:p>
          <a:p>
            <a:endParaRPr lang="en-IN" dirty="0"/>
          </a:p>
          <a:p>
            <a:r>
              <a:rPr lang="en-IN" dirty="0"/>
              <a:t>Most of the sales are driven by either coffee or tea with the contribution being greater for the former.</a:t>
            </a:r>
          </a:p>
          <a:p>
            <a:endParaRPr lang="en-IN" dirty="0"/>
          </a:p>
          <a:p>
            <a:r>
              <a:rPr lang="en-IN" dirty="0"/>
              <a:t>On the sides, Bakery items, drinking chocolate and flavours contribute significantly to the sales. 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4E07FE-ADC6-409A-AB82-2E0AB625BF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567605"/>
              </p:ext>
            </p:extLst>
          </p:nvPr>
        </p:nvGraphicFramePr>
        <p:xfrm>
          <a:off x="5715000" y="822325"/>
          <a:ext cx="5678488" cy="5184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3056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A7C301-87CC-4EB1-AF40-15075522FC5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231547-F69E-41A9-93A9-B70B5E3064F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EA402E5-52EF-430B-8CCB-B4AAA8C467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Retail design</Template>
  <TotalTime>86</TotalTime>
  <Words>378</Words>
  <Application>Microsoft Office PowerPoint</Application>
  <PresentationFormat>Widescreen</PresentationFormat>
  <Paragraphs>67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Calibri</vt:lpstr>
      <vt:lpstr>Tw Cen MT</vt:lpstr>
      <vt:lpstr>Tw Cen MT Condensed</vt:lpstr>
      <vt:lpstr>Wingdings 3</vt:lpstr>
      <vt:lpstr>Integral</vt:lpstr>
      <vt:lpstr>Coffee shop sales</vt:lpstr>
      <vt:lpstr>KPIs</vt:lpstr>
      <vt:lpstr>Quantity ordered based on hours</vt:lpstr>
      <vt:lpstr>Weekday footfall</vt:lpstr>
      <vt:lpstr>Location based Footfall </vt:lpstr>
      <vt:lpstr>Top 5 products based on sales</vt:lpstr>
      <vt:lpstr>Size based sales distribution</vt:lpstr>
      <vt:lpstr>Sales based on category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 Gupta</dc:creator>
  <cp:lastModifiedBy>Yog Gupta</cp:lastModifiedBy>
  <cp:revision>2</cp:revision>
  <dcterms:created xsi:type="dcterms:W3CDTF">2025-04-30T22:53:59Z</dcterms:created>
  <dcterms:modified xsi:type="dcterms:W3CDTF">2025-05-01T00:25:16Z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